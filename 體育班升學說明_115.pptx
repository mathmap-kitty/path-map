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一階篩選會用到</c:v>
                </c:pt>
              </c:strCache>
            </c:strRef>
          </c:tx>
          <c:spPr>
            <a:solidFill>
              <a:srgbClr val="8C274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B2B2B"/>
                    </a:solidFill>
                    <a:latin typeface="微軟正黑體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國文</c:v>
                  </c:pt>
                  <c:pt idx="1">
                    <c:v>英文</c:v>
                  </c:pt>
                  <c:pt idx="2">
                    <c:v>社會</c:v>
                  </c:pt>
                  <c:pt idx="3">
                    <c:v>數學 B</c:v>
                  </c:pt>
                  <c:pt idx="4">
                    <c:v>自然</c:v>
                  </c:pt>
                  <c:pt idx="5">
                    <c:v>數學 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</c:v>
                </c:pt>
                <c:pt idx="1">
                  <c:v>65</c:v>
                </c:pt>
                <c:pt idx="2">
                  <c:v>28</c:v>
                </c:pt>
                <c:pt idx="3">
                  <c:v>13</c:v>
                </c:pt>
                <c:pt idx="4">
                  <c:v>12</c:v>
                </c:pt>
                <c:pt idx="5">
                  <c:v>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B2B2B"/>
                  </a:solidFill>
                  <a:latin typeface="微軟正黑體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2B2B2B"/>
                </a:solidFill>
                <a:latin typeface="微軟正黑體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DE4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過得了一階的校系數</c:v>
                </c:pt>
              </c:strCache>
            </c:strRef>
          </c:tx>
          <c:spPr>
            <a:solidFill>
              <a:srgbClr val="8C2740"/>
            </a:solidFill>
            <a:ln w="50800" cap="flat">
              <a:solidFill>
                <a:srgbClr val="8C274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8C2740"/>
                    </a:solidFill>
                    <a:latin typeface="微軟正黑體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C2740"/>
              </a:solidFill>
              <a:ln w="9525" cap="flat">
                <a:solidFill>
                  <a:srgbClr val="8C274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 級分</c:v>
                  </c:pt>
                  <c:pt idx="1">
                    <c:v>5 級分</c:v>
                  </c:pt>
                  <c:pt idx="2">
                    <c:v>6 級分</c:v>
                  </c:pt>
                  <c:pt idx="3">
                    <c:v>7 級分</c:v>
                  </c:pt>
                  <c:pt idx="4">
                    <c:v>8 級分</c:v>
                  </c:pt>
                  <c:pt idx="5">
                    <c:v>9 級分</c:v>
                  </c:pt>
                  <c:pt idx="6">
                    <c:v>10 級分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10</c:v>
                </c:pt>
                <c:pt idx="2">
                  <c:v>13</c:v>
                </c:pt>
                <c:pt idx="3">
                  <c:v>25</c:v>
                </c:pt>
                <c:pt idx="4">
                  <c:v>43</c:v>
                </c:pt>
                <c:pt idx="5">
                  <c:v>60</c:v>
                </c:pt>
                <c:pt idx="6">
                  <c:v>70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8C2740"/>
                  </a:solidFill>
                  <a:latin typeface="微軟正黑體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微軟正黑體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4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這份說明針對沒有比賽成績的體育班學生。先講三條運動管道為什麼走不通，再講個人申請該怎麼準備。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甄審要的是國家代表隊身分，甄試要全國賽前八名，單招各校自訂但多數也要成績。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這一點很多資料會漏掉，把青儲組當成「學測佔 0% 的好機會」介紹，其實應屆生根本填不了。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對體育班來說這是好消息：要顧的科目其實只有國文和英文，社會加減看。數學可以放掉。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這條線不是平的。7 到 8 之間多 18 個系，8 到 9 之間多 17 個系。跟學生講具體數字比講「要努力」有用。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彰化師大運動學系競技組雖然門檻低，但它要全運會或全中運前八名，沒有成績的學生不符合資格，已排除。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體能是體育班的強項。這一場一定要報，10 月底就要交名單。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這一群是門檻最低的。注意最後一欄，第二階段大多佔六成到十成，備審和面試才是決勝點。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中段這一群多半只卡國文或社會一科，門檻在 7 級分上下。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這一群名額最多，但要每科 8 到 9 級分。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這一頁是要講給家長聽的：孩子學測考差不代表沒機會，但備審和面試沒準備就真的沒機會。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第一關就在下個月。術科報名是體育班最不該漏掉的一件事。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收尾。把書面資料發下去，讓家長帶回家看完整名單。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659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體育班升學說明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7B9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以「個人申請」為主要管道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6B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115 學年度資料　｜　給學生與家長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體育班有四條路，三條需要比賽成績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7F2EE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101600" dist="25400" dir="5400000">
              <a:srgbClr val="8C7A72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920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A9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走不通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運動績優甄審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國家代表隊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國際賽會名次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7F2EE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101600" dist="25400" dir="5400000">
              <a:srgbClr val="8C7A72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920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A9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走不通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運動績優甄試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全國賽前八名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全運會、全中運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7F2EE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101600" dist="25400" dir="5400000">
              <a:srgbClr val="8C7A72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1920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A9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走不通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各校單獨招生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多數要縣市級以上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成績或校隊資歷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06840" y="169164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E3F0F0"/>
          </a:solidFill>
          <a:ln w="12700">
            <a:solidFill>
              <a:srgbClr val="1F6F78"/>
            </a:solidFill>
            <a:prstDash val="solid"/>
          </a:ln>
          <a:effectLst>
            <a:outerShdw sx="100000" sy="100000" kx="0" ky="0" algn="bl" rotWithShape="0" blurRad="101600" dist="25400" dir="5400000">
              <a:srgbClr val="8C7A72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006840" y="1920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可以走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6F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大學個人申請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學測 + 備審面試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不看比賽成績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沒有比賽成績時，能走的是第四條。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先搞清楚：實際能填的沒有想像中多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個人申請裡體育班打得到的落點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F7F2EE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101600" dist="25400" dir="5400000">
              <a:srgbClr val="8C7A72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02996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100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7355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個校系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看起來打得到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2606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－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526280" y="182880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F7E9E4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101600" dist="25400" dir="5400000">
              <a:srgbClr val="8C7A72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26280" y="202996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03D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17</a:t>
            </a:r>
            <a:endParaRPr lang="en-US" sz="50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27355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個填不了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 個青年儲蓄帳戶組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 個公費生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2606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＝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8366760" y="1828800"/>
            <a:ext cx="3154680" cy="2286000"/>
          </a:xfrm>
          <a:prstGeom prst="roundRect">
            <a:avLst>
              <a:gd name="adj" fmla="val 3200"/>
            </a:avLst>
          </a:prstGeom>
          <a:solidFill>
            <a:srgbClr val="E3F0F0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101600" dist="25400" dir="5400000">
              <a:srgbClr val="8C7A72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202996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F6F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83</a:t>
            </a:r>
            <a:endParaRPr lang="en-US" sz="50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3273552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個系、1,495 個名額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應屆生真正能填的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5720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「青年儲蓄帳戶組」是高中畢業後先去工作或體驗 2～3 年才能用的管道，應屆生填不了，而且每系名額多半只有 1 名。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主力科目：國文第一，英文第二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82 個校系中，各科在一階篩選出現的比例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73736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F7F2EE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101600" dist="25400" dir="5400000">
              <a:srgbClr val="8C7A72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909560" y="19659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怎麼用這張圖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46888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國文和英文是主力。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五成的系設國文檢定，八成的系一階會篩國文。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社會排第三。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觀光、休閒、餐旅類常拿它當篩選科目。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A03D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數學 A 只有 2 個系會用到。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數學 B 也只有 13%，集中在幾所公立體育系。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每科多 1 級分，可填的校系差很多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115 學年度實際篩選結果推算，共 81 個校系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828800"/>
            <a:ext cx="3703320" cy="2834640"/>
          </a:xfrm>
          <a:prstGeom prst="roundRect">
            <a:avLst>
              <a:gd name="adj" fmla="val 2581"/>
            </a:avLst>
          </a:prstGeom>
          <a:solidFill>
            <a:srgbClr val="F7E9E4"/>
          </a:solidFill>
          <a:ln w="12700">
            <a:solidFill>
              <a:srgbClr val="E4C8C0"/>
            </a:solidFill>
            <a:prstDash val="solid"/>
          </a:ln>
          <a:effectLst>
            <a:outerShdw sx="100000" sy="100000" kx="0" ky="0" algn="bl" rotWithShape="0" blurRad="101600" dist="25400" dir="5400000">
              <a:srgbClr val="8C7A72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01000" y="205740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目標訂在</a:t>
            </a:r>
            <a:endParaRPr lang="en-US" sz="26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每科 8 級分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315468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 級分能填 25 系</a:t>
            </a:r>
            <a:endParaRPr lang="en-US" sz="16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 級分能填 43 系</a:t>
            </a:r>
            <a:endParaRPr lang="en-US" sz="16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9 級分能填 60 系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489204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「每科 8 級分」是一個看得見的目標，不是「盡力就好」。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四個專長，各自能走哪裡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第二階段「自辦專長術科」的系會限定收哪些運動項目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7F2EE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101600" dist="25400" dir="5400000">
              <a:srgbClr val="8C7A72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476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86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田徑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9476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臺中教大 運動專長組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81965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男 200 公尺 1 名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女 100 公尺跨欄 1 名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458200" y="19476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其餘田徑項目不收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52344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7F2EE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101600" dist="25400" dir="5400000">
              <a:srgbClr val="8C7A72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300837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03D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滑輪溜冰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30083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沒有任何一系收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2880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—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300837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只能走術科考試或一般組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13048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7F2EE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101600" dist="25400" dir="5400000">
              <a:srgbClr val="8C7A72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4069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足球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臺體大 運動專長組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394106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 個名額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4069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四個專長裡名額最多的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873752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7F2EE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101600" dist="25400" dir="5400000">
              <a:srgbClr val="8C7A72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512978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86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羽球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512978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臺中教大 運動專長組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500176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男 2 名、女 1 名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51297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名額極少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專長對不上，不代表沒有路——下一頁那張牌對所有專長都開放。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大學術科考試（體育組）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7B9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不看比賽成績，只看你當天的體能。這是這份名單裡唯一完全由自己決定的分數。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048256" cy="1371600"/>
          </a:xfrm>
          <a:prstGeom prst="roundRect">
            <a:avLst>
              <a:gd name="adj" fmla="val 6667"/>
            </a:avLst>
          </a:prstGeom>
          <a:solidFill>
            <a:srgbClr val="73203A"/>
          </a:solidFill>
          <a:ln w="12700">
            <a:solidFill>
              <a:srgbClr val="9E45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95728"/>
            <a:ext cx="18653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60 公尺</a:t>
            </a:r>
            <a:endParaRPr lang="en-US" sz="15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立姿快跑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71216" y="2286000"/>
            <a:ext cx="2048256" cy="1371600"/>
          </a:xfrm>
          <a:prstGeom prst="roundRect">
            <a:avLst>
              <a:gd name="adj" fmla="val 6667"/>
            </a:avLst>
          </a:prstGeom>
          <a:solidFill>
            <a:srgbClr val="73203A"/>
          </a:solidFill>
          <a:ln w="12700">
            <a:solidFill>
              <a:srgbClr val="9E45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62656" y="2395728"/>
            <a:ext cx="18653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 秒</a:t>
            </a:r>
            <a:endParaRPr lang="en-US" sz="15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反覆側步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02352" y="2286000"/>
            <a:ext cx="2048256" cy="1371600"/>
          </a:xfrm>
          <a:prstGeom prst="roundRect">
            <a:avLst>
              <a:gd name="adj" fmla="val 6667"/>
            </a:avLst>
          </a:prstGeom>
          <a:solidFill>
            <a:srgbClr val="73203A"/>
          </a:solidFill>
          <a:ln w="12700">
            <a:solidFill>
              <a:srgbClr val="9E45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93792" y="2395728"/>
            <a:ext cx="18653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一分鐘</a:t>
            </a:r>
            <a:endParaRPr lang="en-US" sz="15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屈膝仰臥起坐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33488" y="2286000"/>
            <a:ext cx="2048256" cy="1371600"/>
          </a:xfrm>
          <a:prstGeom prst="roundRect">
            <a:avLst>
              <a:gd name="adj" fmla="val 6667"/>
            </a:avLst>
          </a:prstGeom>
          <a:solidFill>
            <a:srgbClr val="73203A"/>
          </a:solidFill>
          <a:ln w="12700">
            <a:solidFill>
              <a:srgbClr val="9E45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24928" y="2395728"/>
            <a:ext cx="18653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立定</a:t>
            </a:r>
            <a:endParaRPr lang="en-US" sz="15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連續三次跳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564624" y="2286000"/>
            <a:ext cx="2048256" cy="1371600"/>
          </a:xfrm>
          <a:prstGeom prst="roundRect">
            <a:avLst>
              <a:gd name="adj" fmla="val 6667"/>
            </a:avLst>
          </a:prstGeom>
          <a:solidFill>
            <a:srgbClr val="73203A"/>
          </a:solidFill>
          <a:ln w="12700">
            <a:solidFill>
              <a:srgbClr val="9E45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56064" y="2395728"/>
            <a:ext cx="18653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1600 公尺</a:t>
            </a:r>
            <a:endParaRPr lang="en-US" sz="15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跑走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319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E7B9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報名：</a:t>
            </a:r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高三上學期 10 月底至 11 月初，由學校集體報名，錯過沒有補救管道。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E7B9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考試：</a:t>
            </a:r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月在國立體育大學，五項 T 分數加總，男女分開評比，以百分等級（PR）呈現。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E7B9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用途：</a:t>
            </a:r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這張成績繁星推薦、個人申請、分發入學三個管道都能用。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6B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採計術科的 6 個系：臺師大 25%、北市大 20%、國體大運保 20%、高師大 10%、彰師大運動健康組 10%、東華 10%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一階門檻最低（每科 6 級分以內）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 個系、219 個名額　｜　「一階通過分數」為 115 學年度實際篩選結果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384048"/>
          </a:xfrm>
          <a:prstGeom prst="rect">
            <a:avLst/>
          </a:prstGeom>
          <a:solidFill>
            <a:srgbClr val="F0DDE3"/>
          </a:solidFill>
          <a:ln w="12700">
            <a:solidFill>
              <a:srgbClr val="F0DD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367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學校・學系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63677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名額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16367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檢定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16367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115 一階通過分數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41080" y="163677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學測佔比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16367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第二階段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10881360" cy="402336"/>
          </a:xfrm>
          <a:prstGeom prst="rect">
            <a:avLst/>
          </a:prstGeom>
          <a:solidFill>
            <a:srgbClr val="FBF6F3"/>
          </a:solidFill>
          <a:ln w="12700">
            <a:solidFill>
              <a:srgbClr val="FBF6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0482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臺灣體育運動　體育學系(運動專長組)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04825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31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04825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20482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國英≥3/30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20482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692640" y="20482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20%／專長術科測驗含面試 70%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4505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臺中教育　體育學系運動專長組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2450592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28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24505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2450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無篩選（過檢定即進二階）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245059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24505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40%／專項術科專長測驗 50%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2816352"/>
            <a:ext cx="10881360" cy="402336"/>
          </a:xfrm>
          <a:prstGeom prst="rect">
            <a:avLst/>
          </a:prstGeom>
          <a:solidFill>
            <a:srgbClr val="FBF6F3"/>
          </a:solidFill>
          <a:ln w="12700">
            <a:solidFill>
              <a:srgbClr val="FBF6F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28529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大葉　運動健康管理學系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285292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25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28529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080760" y="2852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國文≥1/15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641080" y="28529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0%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692640" y="28529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20%／面試 80%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32552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臺東　體育學系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931920" y="325526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23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709160" y="32552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080760" y="32552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國文≥6/15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641080" y="3255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20%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692640" y="32552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20%／面試 60%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" y="3621024"/>
            <a:ext cx="10881360" cy="402336"/>
          </a:xfrm>
          <a:prstGeom prst="rect">
            <a:avLst/>
          </a:prstGeom>
          <a:solidFill>
            <a:srgbClr val="FBF6F3"/>
          </a:solidFill>
          <a:ln w="12700">
            <a:solidFill>
              <a:srgbClr val="FBF6F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36576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屏東　體育學系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3931920" y="365760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18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709160" y="36576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080760" y="3657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國英數B自≥22/60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641080" y="36576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35%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692640" y="3657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30%／面試 35%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40599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臺南　體育學系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3931920" y="405993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16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709160" y="40599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080760" y="40599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國英數B≥18/45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64108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40%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40599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30%／面試 30%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0080" y="4425696"/>
            <a:ext cx="10881360" cy="402336"/>
          </a:xfrm>
          <a:prstGeom prst="rect">
            <a:avLst/>
          </a:prstGeom>
          <a:solidFill>
            <a:srgbClr val="FBF6F3"/>
          </a:solidFill>
          <a:ln w="12700">
            <a:solidFill>
              <a:srgbClr val="FBF6F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31520" y="44622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實踐　觀光管理學系旅運暨運動觀光事業組(高雄校區)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3931920" y="4462272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16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709160" y="44622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080760" y="44622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國文≥2/15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641080" y="44622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0%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9692640" y="44622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50%／面試 50%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731520" y="48646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東華　體育與運動科學系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3931920" y="486460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4709160" y="48646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6080760" y="4864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國文≥5/15；數學B≥2/15；英文≥3/15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8641080" y="48646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30%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9692640" y="48646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30%／面試 30%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40080" y="5230368"/>
            <a:ext cx="10881360" cy="402336"/>
          </a:xfrm>
          <a:prstGeom prst="rect">
            <a:avLst/>
          </a:prstGeom>
          <a:solidFill>
            <a:srgbClr val="FBF6F3"/>
          </a:solidFill>
          <a:ln w="12700">
            <a:solidFill>
              <a:srgbClr val="FBF6F3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31520" y="52669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臺北市立　體育學系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3931920" y="526694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12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4709160" y="52669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6080760" y="52669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國英≥10/30；術科 PR≥73.08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8641080" y="526694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40%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9692640" y="52669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15%／面試 25%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731520" y="56692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屏東　休閒事業經營學系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3931920" y="566928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</a:t>
            </a:r>
            <a:endParaRPr lang="en-US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4709160" y="56692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英文後標</a:t>
            </a:r>
            <a:endParaRPr lang="en-US" sz="1050" dirty="0"/>
          </a:p>
        </p:txBody>
      </p:sp>
      <p:sp>
        <p:nvSpPr>
          <p:cNvPr id="73" name="Text 71"/>
          <p:cNvSpPr txBox="1"/>
          <p:nvPr/>
        </p:nvSpPr>
        <p:spPr>
          <a:xfrm>
            <a:off x="6080760" y="56692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英數B≥8/30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8641080" y="56692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50%</a:t>
            </a:r>
            <a:endParaRPr lang="en-US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9692640" y="56692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20%／面試 30%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3 個系，完整名單見書面資料與升學地圖網頁。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中段（每科 7 級分）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12 個系、191 個名額　｜　「一階通過分數」為 115 學年度實際篩選結果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384048"/>
          </a:xfrm>
          <a:prstGeom prst="rect">
            <a:avLst/>
          </a:prstGeom>
          <a:solidFill>
            <a:srgbClr val="F0DDE3"/>
          </a:solidFill>
          <a:ln w="12700">
            <a:solidFill>
              <a:srgbClr val="F0DD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367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學校・學系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63677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名額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16367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檢定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16367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115 一階通過分數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41080" y="163677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學測佔比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16367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第二階段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10881360" cy="402336"/>
          </a:xfrm>
          <a:prstGeom prst="rect">
            <a:avLst/>
          </a:prstGeom>
          <a:solidFill>
            <a:srgbClr val="FBF6F3"/>
          </a:solidFill>
          <a:ln w="12700">
            <a:solidFill>
              <a:srgbClr val="FBF6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0482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靜宜　觀光事業學系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04825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65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04825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國文底標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20482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(國文+英文)≥13/30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20482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692640" y="20482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40%／面試 50%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4505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佛光　運動與健康促進管理學士學位學程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2450592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45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24505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國文底標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2450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國文≥7/15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245059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0%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24505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50%／面試 50%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2816352"/>
            <a:ext cx="10881360" cy="402336"/>
          </a:xfrm>
          <a:prstGeom prst="rect">
            <a:avLst/>
          </a:prstGeom>
          <a:solidFill>
            <a:srgbClr val="FBF6F3"/>
          </a:solidFill>
          <a:ln w="12700">
            <a:solidFill>
              <a:srgbClr val="FBF6F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28529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世新　觀光學系餐旅經營管理組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285292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18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28529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國文底標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080760" y="2852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國文≥7/15；英文≥4/15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641080" y="28529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692640" y="28529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40%／面試 50%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32552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開南　休閒與運動管理學系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931920" y="325526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709160" y="32552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社會底標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080760" y="32552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社會≥7/15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641080" y="3255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0%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692640" y="32552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50%／面試 50%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" y="3621024"/>
            <a:ext cx="10881360" cy="402336"/>
          </a:xfrm>
          <a:prstGeom prst="rect">
            <a:avLst/>
          </a:prstGeom>
          <a:solidFill>
            <a:srgbClr val="FBF6F3"/>
          </a:solidFill>
          <a:ln w="12700">
            <a:solidFill>
              <a:srgbClr val="FBF6F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36576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長榮　翻譯學系語文教學與觀光會展實務組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3931920" y="365760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709160" y="36576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社會底標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080760" y="3657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社會≥7/15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641080" y="36576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692640" y="3657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40%／面試 50%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40599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南華　旅遊管理學系觀光旅遊經營組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3931920" y="405993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709160" y="40599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國文底標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080760" y="40599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國文≥7/15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64108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40599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40%／面試 50%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0080" y="4425696"/>
            <a:ext cx="10881360" cy="402336"/>
          </a:xfrm>
          <a:prstGeom prst="rect">
            <a:avLst/>
          </a:prstGeom>
          <a:solidFill>
            <a:srgbClr val="FBF6F3"/>
          </a:solidFill>
          <a:ln w="12700">
            <a:solidFill>
              <a:srgbClr val="FBF6F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31520" y="44622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臺中教育　體育學系非運動專長組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3931920" y="4462272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709160" y="44622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數學B後標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080760" y="44622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數學B≥7/15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641080" y="44622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30%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9692640" y="44622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30%／面試 40%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731520" y="48646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大葉　觀光休閒學系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3931920" y="486460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4709160" y="48646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國文底標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6080760" y="4864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國文≥7/15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8641080" y="48646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0%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9692640" y="48646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45%／面試 55%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40080" y="5230368"/>
            <a:ext cx="10881360" cy="402336"/>
          </a:xfrm>
          <a:prstGeom prst="rect">
            <a:avLst/>
          </a:prstGeom>
          <a:solidFill>
            <a:srgbClr val="FBF6F3"/>
          </a:solidFill>
          <a:ln w="12700">
            <a:solidFill>
              <a:srgbClr val="FBF6F3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31520" y="52669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南華　旅遊管理學系觀光導覽組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3931920" y="526694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4709160" y="52669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國文底標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6080760" y="52669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社會≥7/15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8641080" y="526694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9692640" y="52669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40%／面試 50%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731520" y="56692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長榮　觀光與餐飲管理學系專業技術組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3931920" y="566928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4709160" y="56692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國文底標</a:t>
            </a:r>
            <a:endParaRPr lang="en-US" sz="1050" dirty="0"/>
          </a:p>
        </p:txBody>
      </p:sp>
      <p:sp>
        <p:nvSpPr>
          <p:cNvPr id="73" name="Text 71"/>
          <p:cNvSpPr txBox="1"/>
          <p:nvPr/>
        </p:nvSpPr>
        <p:spPr>
          <a:xfrm>
            <a:off x="6080760" y="56692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國文≥7/15；社會≥7/15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8641080" y="56692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9692640" y="56692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40%／面試 50%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2 個系，完整名單見書面資料與升學地圖網頁。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每科 8–9 級分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35 個系、644 個名額　｜　「一階通過分數」為 115 學年度實際篩選結果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384048"/>
          </a:xfrm>
          <a:prstGeom prst="rect">
            <a:avLst/>
          </a:prstGeom>
          <a:solidFill>
            <a:srgbClr val="F0DDE3"/>
          </a:solidFill>
          <a:ln w="12700">
            <a:solidFill>
              <a:srgbClr val="F0DD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367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學校・學系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63677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名額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16367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檢定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16367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115 一階通過分數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41080" y="163677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學測佔比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16367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第二階段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10881360" cy="402336"/>
          </a:xfrm>
          <a:prstGeom prst="rect">
            <a:avLst/>
          </a:prstGeom>
          <a:solidFill>
            <a:srgbClr val="FBF6F3"/>
          </a:solidFill>
          <a:ln w="12700">
            <a:solidFill>
              <a:srgbClr val="FBF6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0482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淡江　國際觀光管理學系全英語學士班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04825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48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04825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英文後標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20482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英文≥8/15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20482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30%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692640" y="20482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30%／團體面試 40%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4505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銘傳　觀光事業學系（桃園校區）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2450592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41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24505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社會底標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2450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英文≥4/15；國文≥9/15；社會≥9/15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245059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20%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24505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40%／面試 40%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2816352"/>
            <a:ext cx="10881360" cy="402336"/>
          </a:xfrm>
          <a:prstGeom prst="rect">
            <a:avLst/>
          </a:prstGeom>
          <a:solidFill>
            <a:srgbClr val="FBF6F3"/>
          </a:solidFill>
          <a:ln w="12700">
            <a:solidFill>
              <a:srgbClr val="FBF6F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28529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臺灣體育運動　體育學系(一般組)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285292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37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28529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英文底標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080760" y="2852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(國文+英文)≥16/30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641080" y="28529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30%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692640" y="28529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30%／面試 40%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32552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輔仁　體育學系運動健康管理組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931920" y="325526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33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709160" y="32552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080760" y="32552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(國文+英文)≥18/30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641080" y="3255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20%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692640" y="32552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40%／面試 40%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" y="3621024"/>
            <a:ext cx="10881360" cy="402336"/>
          </a:xfrm>
          <a:prstGeom prst="rect">
            <a:avLst/>
          </a:prstGeom>
          <a:solidFill>
            <a:srgbClr val="FBF6F3"/>
          </a:solidFill>
          <a:ln w="12700">
            <a:solidFill>
              <a:srgbClr val="FBF6F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36576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聯合　文化觀光產業學系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3931920" y="365760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32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709160" y="36576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國文後標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080760" y="3657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國文≥9/15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641080" y="36576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30%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692640" y="3657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30%／面試 40%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40599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開南　觀光與餐飲旅館學系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3931920" y="405993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28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709160" y="40599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國文底標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080760" y="40599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國文≥8/15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64108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0%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40599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50%／面試 50%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0080" y="4425696"/>
            <a:ext cx="10881360" cy="402336"/>
          </a:xfrm>
          <a:prstGeom prst="rect">
            <a:avLst/>
          </a:prstGeom>
          <a:solidFill>
            <a:srgbClr val="FBF6F3"/>
          </a:solidFill>
          <a:ln w="12700">
            <a:solidFill>
              <a:srgbClr val="FBF6F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31520" y="44622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臺北市立　運動健康科學系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3931920" y="4462272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27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709160" y="44622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080760" y="44622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國英自≥25/45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641080" y="44622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45%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9692640" y="44622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20%／面試 35%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731520" y="48646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臺東　文化資源與休閒產業學系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3931920" y="486460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26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4709160" y="48646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國文底標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6080760" y="4864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國文≥9/15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8641080" y="48646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20%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9692640" y="48646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35%／面試 45%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40080" y="5230368"/>
            <a:ext cx="10881360" cy="402336"/>
          </a:xfrm>
          <a:prstGeom prst="rect">
            <a:avLst/>
          </a:prstGeom>
          <a:solidFill>
            <a:srgbClr val="FBF6F3"/>
          </a:solidFill>
          <a:ln w="12700">
            <a:solidFill>
              <a:srgbClr val="FBF6F3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31520" y="52669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東海　高齡健康與運動科學學士學位學程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3931920" y="526694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23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4709160" y="52669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國文底標、英文底標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6080760" y="52669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(國文+英文)≥18/30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8641080" y="526694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25%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9692640" y="52669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35%／面試 40%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731520" y="56692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東華　觀光暨休閒遊憩學系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3931920" y="566928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22</a:t>
            </a:r>
            <a:endParaRPr lang="en-US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4709160" y="56692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國文後標</a:t>
            </a:r>
            <a:endParaRPr lang="en-US" sz="1050" dirty="0"/>
          </a:p>
        </p:txBody>
      </p:sp>
      <p:sp>
        <p:nvSpPr>
          <p:cNvPr id="73" name="Text 71"/>
          <p:cNvSpPr txBox="1"/>
          <p:nvPr/>
        </p:nvSpPr>
        <p:spPr>
          <a:xfrm>
            <a:off x="6080760" y="56692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英社≥14/30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8641080" y="56692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30%</a:t>
            </a:r>
            <a:endParaRPr lang="en-US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9692640" y="56692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審查資料 30%／面試 40%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25 個系，完整名單見書面資料與升學地圖網頁。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學測只是入場券，決勝點在第二階段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門檻最低那 13 個系的第二階段佔比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大葉 運動健康管理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874520"/>
            <a:ext cx="5852160" cy="219456"/>
          </a:xfrm>
          <a:prstGeom prst="rect">
            <a:avLst/>
          </a:prstGeom>
          <a:solidFill>
            <a:srgbClr val="EDE4E0"/>
          </a:solidFill>
          <a:ln w="12700">
            <a:solidFill>
              <a:srgbClr val="EDE4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874520"/>
            <a:ext cx="5852160" cy="219456"/>
          </a:xfrm>
          <a:prstGeom prst="rect">
            <a:avLst/>
          </a:prstGeom>
          <a:solidFill>
            <a:srgbClr val="8C2740"/>
          </a:solidFill>
          <a:ln w="12700">
            <a:solidFill>
              <a:srgbClr val="8C27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61320" y="17830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100%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31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實踐 觀光旅運暨運動觀光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2423160"/>
            <a:ext cx="5852160" cy="219456"/>
          </a:xfrm>
          <a:prstGeom prst="rect">
            <a:avLst/>
          </a:prstGeom>
          <a:solidFill>
            <a:srgbClr val="EDE4E0"/>
          </a:solidFill>
          <a:ln w="12700">
            <a:solidFill>
              <a:srgbClr val="EDE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423160"/>
            <a:ext cx="5852160" cy="219456"/>
          </a:xfrm>
          <a:prstGeom prst="rect">
            <a:avLst/>
          </a:prstGeom>
          <a:solidFill>
            <a:srgbClr val="8C2740"/>
          </a:solidFill>
          <a:ln w="12700">
            <a:solidFill>
              <a:srgbClr val="8C27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61320" y="23317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100%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880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臺體大 體育學系運動專長組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2971800"/>
            <a:ext cx="5852160" cy="219456"/>
          </a:xfrm>
          <a:prstGeom prst="rect">
            <a:avLst/>
          </a:prstGeom>
          <a:solidFill>
            <a:srgbClr val="EDE4E0"/>
          </a:solidFill>
          <a:ln w="12700">
            <a:solidFill>
              <a:srgbClr val="EDE4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971800"/>
            <a:ext cx="5266944" cy="219456"/>
          </a:xfrm>
          <a:prstGeom prst="rect">
            <a:avLst/>
          </a:prstGeom>
          <a:solidFill>
            <a:srgbClr val="8C2740"/>
          </a:solidFill>
          <a:ln w="12700">
            <a:solidFill>
              <a:srgbClr val="8C27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61320" y="28803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90%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29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臺中教大 體育學系運動專長組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3520440"/>
            <a:ext cx="5852160" cy="219456"/>
          </a:xfrm>
          <a:prstGeom prst="rect">
            <a:avLst/>
          </a:prstGeom>
          <a:solidFill>
            <a:srgbClr val="EDE4E0"/>
          </a:solidFill>
          <a:ln w="12700">
            <a:solidFill>
              <a:srgbClr val="EDE4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520440"/>
            <a:ext cx="5266944" cy="219456"/>
          </a:xfrm>
          <a:prstGeom prst="rect">
            <a:avLst/>
          </a:prstGeom>
          <a:solidFill>
            <a:srgbClr val="8C2740"/>
          </a:solidFill>
          <a:ln w="12700">
            <a:solidFill>
              <a:srgbClr val="8C27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61320" y="34290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90%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977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臺東 體育學系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4069080"/>
            <a:ext cx="5852160" cy="219456"/>
          </a:xfrm>
          <a:prstGeom prst="rect">
            <a:avLst/>
          </a:prstGeom>
          <a:solidFill>
            <a:srgbClr val="EDE4E0"/>
          </a:solidFill>
          <a:ln w="12700">
            <a:solidFill>
              <a:srgbClr val="EDE4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4069080"/>
            <a:ext cx="4681728" cy="219456"/>
          </a:xfrm>
          <a:prstGeom prst="rect">
            <a:avLst/>
          </a:prstGeom>
          <a:solidFill>
            <a:srgbClr val="8C2740"/>
          </a:solidFill>
          <a:ln w="12700">
            <a:solidFill>
              <a:srgbClr val="8C274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61320" y="39776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80%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526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東華 體育與運動科學系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0" y="4617720"/>
            <a:ext cx="5852160" cy="219456"/>
          </a:xfrm>
          <a:prstGeom prst="rect">
            <a:avLst/>
          </a:prstGeom>
          <a:solidFill>
            <a:srgbClr val="EDE4E0"/>
          </a:solidFill>
          <a:ln w="12700">
            <a:solidFill>
              <a:srgbClr val="EDE4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617720"/>
            <a:ext cx="4096512" cy="219456"/>
          </a:xfrm>
          <a:prstGeom prst="rect">
            <a:avLst/>
          </a:prstGeom>
          <a:solidFill>
            <a:srgbClr val="8C2740"/>
          </a:solidFill>
          <a:ln w="12700">
            <a:solidFill>
              <a:srgbClr val="8C274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561320" y="45262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70%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074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臺北市立 體育學系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0" y="5166360"/>
            <a:ext cx="5852160" cy="219456"/>
          </a:xfrm>
          <a:prstGeom prst="rect">
            <a:avLst/>
          </a:prstGeom>
          <a:solidFill>
            <a:srgbClr val="EDE4E0"/>
          </a:solidFill>
          <a:ln w="12700">
            <a:solidFill>
              <a:srgbClr val="EDE4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5166360"/>
            <a:ext cx="3511296" cy="219456"/>
          </a:xfrm>
          <a:prstGeom prst="rect">
            <a:avLst/>
          </a:prstGeom>
          <a:solidFill>
            <a:srgbClr val="8C2740"/>
          </a:solidFill>
          <a:ln w="12700">
            <a:solidFill>
              <a:srgbClr val="8C274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561320" y="50749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60%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623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臺南 體育學系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0" y="5715000"/>
            <a:ext cx="5852160" cy="219456"/>
          </a:xfrm>
          <a:prstGeom prst="rect">
            <a:avLst/>
          </a:prstGeom>
          <a:solidFill>
            <a:srgbClr val="EDE4E0"/>
          </a:solidFill>
          <a:ln w="12700">
            <a:solidFill>
              <a:srgbClr val="EDE4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5715000"/>
            <a:ext cx="3511296" cy="219456"/>
          </a:xfrm>
          <a:prstGeom prst="rect">
            <a:avLst/>
          </a:prstGeom>
          <a:solidFill>
            <a:srgbClr val="8C2740"/>
          </a:solidFill>
          <a:ln w="12700">
            <a:solidFill>
              <a:srgbClr val="8C274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61320" y="56235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60%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第二階段＝審查資料 + 面試。這是現在就能開始練的，不必等學測考完。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這一年的關卡順序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65376"/>
            <a:ext cx="384048" cy="384048"/>
          </a:xfrm>
          <a:prstGeom prst="ellipse">
            <a:avLst/>
          </a:prstGeom>
          <a:solidFill>
            <a:srgbClr val="8C2740"/>
          </a:solidFill>
          <a:ln w="12700">
            <a:solidFill>
              <a:srgbClr val="8C27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 月底–11 月初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大學術科考試報名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由學校集體辦理，錯過沒有補救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98064"/>
            <a:ext cx="384048" cy="384048"/>
          </a:xfrm>
          <a:prstGeom prst="ellipse">
            <a:avLst/>
          </a:prstGeom>
          <a:solidFill>
            <a:srgbClr val="8C2740"/>
          </a:solidFill>
          <a:ln w="12700">
            <a:solidFill>
              <a:srgbClr val="8C27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761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27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月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7614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學測 + 大學術科考試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7614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術科在國立體育大學，考五項體能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30752"/>
            <a:ext cx="384048" cy="384048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6941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 月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694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個人申請報名、一階放榜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6941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最多 6 個志願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663440"/>
            <a:ext cx="384048" cy="384048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6268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 月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46268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第二階段：審查資料與面試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6268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決勝點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596128"/>
            <a:ext cx="384048" cy="384048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596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55595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 月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0" y="55595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登記就讀志願序、統一分發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55595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B6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沒登記等於放棄全部錄取校系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給學生的三句話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993392"/>
            <a:ext cx="566928" cy="566928"/>
          </a:xfrm>
          <a:prstGeom prst="ellipse">
            <a:avLst/>
          </a:prstGeom>
          <a:solidFill>
            <a:srgbClr val="E7B9C6"/>
          </a:solidFill>
          <a:ln w="12700">
            <a:solidFill>
              <a:srgbClr val="E7B9C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993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920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國文和英文是主力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423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9BBC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每科多 1 級分，可填的校系會多十幾個。這是差距最有感的地方。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19272"/>
            <a:ext cx="566928" cy="566928"/>
          </a:xfrm>
          <a:prstGeom prst="ellipse">
            <a:avLst/>
          </a:prstGeom>
          <a:solidFill>
            <a:srgbClr val="E7B9C6"/>
          </a:solidFill>
          <a:ln w="12700">
            <a:solidFill>
              <a:srgbClr val="E7B9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319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備審和面試現在就能練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9BBC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門檻最低那一群，第二階段佔總成績六成到十成。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645152"/>
            <a:ext cx="566928" cy="566928"/>
          </a:xfrm>
          <a:prstGeom prst="ellipse">
            <a:avLst/>
          </a:prstGeom>
          <a:solidFill>
            <a:srgbClr val="E7B9C6"/>
          </a:solidFill>
          <a:ln w="12700">
            <a:solidFill>
              <a:srgbClr val="E7B9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645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15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術科考試不看比賽成績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5074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9BBC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只看你當天的體能。這是唯一完全由自己決定的分數。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6B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完整名單與逐系條件：path-map 升學地圖　→　體育班升學地圖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2026-09-02T12:13:17Z</dcterms:created>
  <dcterms:modified xsi:type="dcterms:W3CDTF">2026-09-02T12:13:17Z</dcterms:modified>
</cp:coreProperties>
</file>